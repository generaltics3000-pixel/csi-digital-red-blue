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Montserrat SemiBold"/>
      <p:regular r:id="rId17"/>
      <p:bold r:id="rId18"/>
      <p:italic r:id="rId19"/>
      <p:boldItalic r:id="rId20"/>
    </p:embeddedFont>
    <p:embeddedFont>
      <p:font typeface="Inter SemiBold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Montserrat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boldItalic.fntdata"/><Relationship Id="rId22" Type="http://schemas.openxmlformats.org/officeDocument/2006/relationships/font" Target="fonts/InterSemiBold-bold.fntdata"/><Relationship Id="rId21" Type="http://schemas.openxmlformats.org/officeDocument/2006/relationships/font" Target="fonts/InterSemiBold-regular.fntdata"/><Relationship Id="rId24" Type="http://schemas.openxmlformats.org/officeDocument/2006/relationships/font" Target="fonts/InterSemiBold-boldItalic.fntdata"/><Relationship Id="rId23" Type="http://schemas.openxmlformats.org/officeDocument/2006/relationships/font" Target="fonts/Inter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italic.fntdata"/><Relationship Id="rId30" Type="http://schemas.openxmlformats.org/officeDocument/2006/relationships/font" Target="fonts/Montserrat-bold.fntdata"/><Relationship Id="rId11" Type="http://schemas.openxmlformats.org/officeDocument/2006/relationships/slide" Target="slides/slide6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5.xml"/><Relationship Id="rId32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SemiBold-italic.fntdata"/><Relationship Id="rId18" Type="http://schemas.openxmlformats.org/officeDocument/2006/relationships/font" Target="fonts/Montserrat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Relationship Id="rId4" Type="http://schemas.openxmlformats.org/officeDocument/2006/relationships/image" Target="../media/image34.png"/><Relationship Id="rId10" Type="http://schemas.openxmlformats.org/officeDocument/2006/relationships/image" Target="../media/image22.png"/><Relationship Id="rId9" Type="http://schemas.openxmlformats.org/officeDocument/2006/relationships/image" Target="../media/image19.png"/><Relationship Id="rId5" Type="http://schemas.openxmlformats.org/officeDocument/2006/relationships/image" Target="../media/image15.png"/><Relationship Id="rId6" Type="http://schemas.openxmlformats.org/officeDocument/2006/relationships/image" Target="../media/image5.png"/><Relationship Id="rId7" Type="http://schemas.openxmlformats.org/officeDocument/2006/relationships/image" Target="../media/image39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8.png"/><Relationship Id="rId11" Type="http://schemas.openxmlformats.org/officeDocument/2006/relationships/image" Target="../media/image17.png"/><Relationship Id="rId10" Type="http://schemas.openxmlformats.org/officeDocument/2006/relationships/image" Target="../media/image30.png"/><Relationship Id="rId12" Type="http://schemas.openxmlformats.org/officeDocument/2006/relationships/image" Target="../media/image13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6.png"/><Relationship Id="rId8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9" Type="http://schemas.openxmlformats.org/officeDocument/2006/relationships/image" Target="../media/image23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image" Target="../media/image51.png"/><Relationship Id="rId8" Type="http://schemas.openxmlformats.org/officeDocument/2006/relationships/image" Target="../media/image5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8.png"/><Relationship Id="rId5" Type="http://schemas.openxmlformats.org/officeDocument/2006/relationships/image" Target="../media/image6.png"/><Relationship Id="rId6" Type="http://schemas.openxmlformats.org/officeDocument/2006/relationships/image" Target="../media/image35.png"/><Relationship Id="rId7" Type="http://schemas.openxmlformats.org/officeDocument/2006/relationships/image" Target="../media/image25.png"/><Relationship Id="rId8" Type="http://schemas.openxmlformats.org/officeDocument/2006/relationships/image" Target="../media/image3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49.png"/><Relationship Id="rId5" Type="http://schemas.openxmlformats.org/officeDocument/2006/relationships/image" Target="../media/image6.png"/><Relationship Id="rId6" Type="http://schemas.openxmlformats.org/officeDocument/2006/relationships/image" Target="../media/image47.png"/><Relationship Id="rId7" Type="http://schemas.openxmlformats.org/officeDocument/2006/relationships/image" Target="../media/image24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53.png"/><Relationship Id="rId11" Type="http://schemas.openxmlformats.org/officeDocument/2006/relationships/image" Target="../media/image55.png"/><Relationship Id="rId10" Type="http://schemas.openxmlformats.org/officeDocument/2006/relationships/image" Target="../media/image32.png"/><Relationship Id="rId9" Type="http://schemas.openxmlformats.org/officeDocument/2006/relationships/image" Target="../media/image14.png"/><Relationship Id="rId5" Type="http://schemas.openxmlformats.org/officeDocument/2006/relationships/image" Target="../media/image36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3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40.png"/><Relationship Id="rId7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6.png"/><Relationship Id="rId8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48.png"/><Relationship Id="rId5" Type="http://schemas.openxmlformats.org/officeDocument/2006/relationships/image" Target="../media/image54.png"/><Relationship Id="rId6" Type="http://schemas.openxmlformats.org/officeDocument/2006/relationships/image" Target="../media/image58.png"/><Relationship Id="rId7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6192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2639466"/>
            <a:ext cx="5600700" cy="1182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Ciudadanía Digital Segura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012852"/>
            <a:ext cx="5334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Protección esencial para la escuela, el hogar y el entorno laboral.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25846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876300" y="2291804"/>
            <a:ext cx="2609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CIBERSEGURIDAD Y PRIVACIDAD</a:t>
            </a:r>
            <a:endParaRPr/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628775"/>
            <a:ext cx="53149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38350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38350"/>
            <a:ext cx="5334000" cy="3486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5825" y="4181475"/>
            <a:ext cx="47053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0825" y="4181475"/>
            <a:ext cx="47053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5825" y="2352675"/>
            <a:ext cx="470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885825" y="2781300"/>
            <a:ext cx="49406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La información es el activo clave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3133725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ciberdelincuentes buscan identidades comunes para cometer fraudes, suplantar identidades o vender bases de datos privadas.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00825" y="2352675"/>
            <a:ext cx="47053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600825" y="2781300"/>
            <a:ext cx="49406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Las llaves de tu casa digital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00825" y="3133725"/>
            <a:ext cx="47053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Tus datos personales son el acceso directo a tu vida crediticia, familiar y profesional. Trátalos con la misma precaución con la que proteges la puerta de tu hogar.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419350"/>
            <a:ext cx="13811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52525" y="4352925"/>
            <a:ext cx="4210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Ejemplo habitual: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Compartir ubicación en tiempo real, publicar fotos de alumnos o subir archivos de clientes a nubes públicas sin contraseña.</a:t>
            </a:r>
            <a:endParaRPr/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724650" y="2419350"/>
            <a:ext cx="138112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867525" y="4352925"/>
            <a:ext cx="42100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Regla de oro: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Si no le entregarías una copia de la llave de tu casa a un desconocido, no compartas tus datos personales en plataformas no verificadas.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¿Por qué tus datos importan?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6" name="Google Shape;11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20383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 eslabón más débil no es la computadora, es el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ser humano</a:t>
            </a:r>
            <a:r>
              <a:rPr b="0" i="0" lang="en-US" sz="1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27622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atacantes apelan a la urgencia, el miedo o la curiosidad para manipular a las víctimas antes de que piensen.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914400" y="34671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Engaño Típico: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Correos de suspensión de cuenta en 24h o facturas adjuntas falsas (.exe).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914400" y="41529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Regla de los 3 Segundos: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Detente, piensa y verifica la fuente antes de reaccionar.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14400" y="48387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Verificación de Remitente: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Revisa la dirección real del correo y no solo el nombre visible.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09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767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251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Ingeniería Social y Phishing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847725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7185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Claves Vulnerables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47725" y="3533775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contraseñas cortas o comunes (ej.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Marzo2026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123456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 se descifran en milisegundos mediante ataques automatizados.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47725" y="4657725"/>
            <a:ext cx="29781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reutilizas la misma clave, una brecha en un sitio comprometerá tu correo y banca.</a:t>
            </a:r>
            <a:endParaRPr/>
          </a:p>
        </p:txBody>
      </p:sp>
      <p:pic>
        <p:nvPicPr>
          <p:cNvPr descr="image.png" id="141" name="Google Shape;14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6974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6"/>
          <p:cNvSpPr txBox="1"/>
          <p:nvPr/>
        </p:nvSpPr>
        <p:spPr>
          <a:xfrm>
            <a:off x="4606974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Frases de Contraseña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606974" y="3533775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Combina 4 palabras aleatorias con símbolos (ej. </a:t>
            </a:r>
            <a:r>
              <a:rPr b="0" i="1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Elefante-Mate-Ventana-Azul-26!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606974" y="4400550"/>
            <a:ext cx="2978199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Sencilla de recordar para ti, matemáticamente imposible de adivinar para un robot.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505075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8366224" y="3190875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Gestores de Claves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366224" y="3533775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Utiliza herramientas como Bitwarden o 1Password para generar y almacenar claves únicas.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366224" y="4400550"/>
            <a:ext cx="297819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Elimina la necesidad de memorizar decenas de contraseñas complejas.</a:t>
            </a:r>
            <a:endParaRPr/>
          </a:p>
        </p:txBody>
      </p:sp>
      <p:pic>
        <p:nvPicPr>
          <p:cNvPr descr="image.png" id="149" name="Google Shape;14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95362" y="263842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740324" y="26384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85286" y="2638425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Contraseñas Robustas vs. Débiles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357437"/>
            <a:ext cx="53340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571500" y="2057400"/>
            <a:ext cx="5334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Las contraseñas ya no son suficientes. Necesitas una </a:t>
            </a:r>
            <a:r>
              <a:rPr b="0" i="0" lang="en-US" sz="16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segunda capa de defensa</a:t>
            </a:r>
            <a:r>
              <a:rPr b="0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0" y="2747962"/>
            <a:ext cx="7620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6563201" y="3548062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Protección en 2 Pasos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677025" y="3938587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Paso 1: Tu Contraseña Secreta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677025" y="4586287"/>
            <a:ext cx="45529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Paso 2: Código Temporal de App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67775" y="4281487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914400" y="2876550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Barrera Antirrobo: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un atacante adivina tu clave desde otro país, el sistema requerirá un código dinámico que solo llega a tu celular.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914400" y="3838575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Activación Esencial: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Habilítalo en WhatsApp, correo corporativo, escolar y redes sociales sin excepción.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914400" y="4543425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Prefiere Apps Autenticadoras: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Usa Google o Microsoft Authenticator en lugar de SMS, ya que los SMS pueden interceptarse.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00362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623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56723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Doble Factor de Autenticación</a:t>
            </a:r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9400"/>
            <a:ext cx="5334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571500" y="2152650"/>
            <a:ext cx="53340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Cualquier publicación construye tu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huella digital permanente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y puede ser explotada en tu contra.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38200" y="29908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Evita el Oversharing: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No publiques pases de abordar (códigos QR), prendas con logos de colegio/trabajo ni responder trivias virales que revelen tus preguntas de seguridad.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914400" y="40386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Configuración de Perfil: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Mantén tus cuentas siempre configuradas como "Privadas".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914400" y="47244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Filtro de la Abuela: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no mostrarías esa foto o comentario en persona a tu abuela o jefe, no lo subas a la red.</a:t>
            </a:r>
            <a:endParaRPr/>
          </a:p>
        </p:txBody>
      </p:sp>
      <p:pic>
        <p:nvPicPr>
          <p:cNvPr descr="image.png" id="186" name="Google Shape;18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62412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482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Privacidad y Redes Sociales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05100"/>
            <a:ext cx="5334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971675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9"/>
          <p:cNvSpPr txBox="1"/>
          <p:nvPr/>
        </p:nvSpPr>
        <p:spPr>
          <a:xfrm>
            <a:off x="571500" y="2009775"/>
            <a:ext cx="53340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Las redes Wi-Fi abiertas de aeropuertos, plazas o cafeterías </a:t>
            </a:r>
            <a:r>
              <a:rPr b="0" i="0" lang="en-US" sz="1425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carecen de cifrado seguro</a:t>
            </a:r>
            <a:r>
              <a:rPr b="0" i="0" lang="en-US" sz="1425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838200" y="2876550"/>
            <a:ext cx="4838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Riesgo de interceptación:</a:t>
            </a:r>
            <a:r>
              <a:rPr b="0" i="0" lang="en-US" sz="12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Un atacante conectado a la misma red pública puede clonar la señal o interceptar tus credenciales y correos confidenciales.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96025" y="1981200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914400" y="3924300"/>
            <a:ext cx="4991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Prioriza tus Datos Móviles: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Usa la red de tu operador telefónico para transacciones bancarias o laborales.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14400" y="4610100"/>
            <a:ext cx="49911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Usa siempre una VPN:</a:t>
            </a: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es indispensable usar Wi-Fi pública, activa una Red Privada Virtual para cifrar el tráfico de extremo a extremo.</a:t>
            </a:r>
            <a:endParaRPr/>
          </a:p>
        </p:txBody>
      </p:sp>
      <p:pic>
        <p:nvPicPr>
          <p:cNvPr descr="image.png" id="202" name="Google Shape;202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48112"/>
            <a:ext cx="2381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33912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Conectividad en Zonas Públicas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0749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9999" y="2219325"/>
            <a:ext cx="3530649" cy="3124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7725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847725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1. Auditoría Inicial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47725" y="3524250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Revisa minuciosamente los permisos que solicitan las aplicaciones inmediatamente después de instalarlas.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847725" y="4667250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Cuestiona por qué una app de linterna requiere acceso a tus contactos o micrófono.</a:t>
            </a:r>
            <a:endParaRPr/>
          </a:p>
        </p:txBody>
      </p:sp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06974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4606974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2. Menor Privilegio</a:t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4606974" y="3524250"/>
            <a:ext cx="2978199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Deniega el acceso a cámara, micrófono, galería y ubicación si no corresponden con la función real de la app.</a:t>
            </a:r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4606974" y="4667250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Limita la recolección innecesaria de telemetría y datos personales.</a:t>
            </a:r>
            <a:endParaRPr/>
          </a:p>
        </p:txBody>
      </p:sp>
      <p:pic>
        <p:nvPicPr>
          <p:cNvPr descr="image.png" id="222" name="Google Shape;22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66224" y="2495550"/>
            <a:ext cx="495300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 txBox="1"/>
          <p:nvPr/>
        </p:nvSpPr>
        <p:spPr>
          <a:xfrm>
            <a:off x="8366224" y="3181350"/>
            <a:ext cx="312710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3. Depuración Periódica</a:t>
            </a: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8366224" y="3524250"/>
            <a:ext cx="2978199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Elimina del dispositivo las aplicaciones que no hayas utilizado en el último mes.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8366224" y="4410075"/>
            <a:ext cx="29781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Reducirás la superficie de ataque y prevendrás posibles fugas de datos en segundo plano.</a:t>
            </a:r>
            <a:endParaRPr/>
          </a:p>
        </p:txBody>
      </p:sp>
      <p:pic>
        <p:nvPicPr>
          <p:cNvPr descr="image.png" id="226" name="Google Shape;226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81075" y="26289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13861" y="262890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Permisos Abusivos en Apps</a:t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4" name="Google Shape;23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835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72650" y="31956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3865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05800" y="2957512"/>
            <a:ext cx="331470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1"/>
          <p:cNvSpPr txBox="1"/>
          <p:nvPr/>
        </p:nvSpPr>
        <p:spPr>
          <a:xfrm>
            <a:off x="571500" y="2414587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riesgo cero no existe. La diferencia radica en la </a:t>
            </a:r>
            <a:r>
              <a:rPr b="0" i="0" lang="en-US" sz="13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velocidad de contención y respuesta</a:t>
            </a: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1676400" y="4038600"/>
            <a:ext cx="8839200" cy="28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73866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Notificación Inmediata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809625" y="4052887"/>
            <a:ext cx="2838450" cy="6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clonan tu WhatsApp o cuenta, alerta a tus contactos vía telefónica inmediata para evitar estafas masivas a tu nombre.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460581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Aislamiento del Equipo</a:t>
            </a:r>
            <a:endParaRPr/>
          </a:p>
        </p:txBody>
      </p:sp>
      <p:sp>
        <p:nvSpPr>
          <p:cNvPr id="246" name="Google Shape;246;p21"/>
          <p:cNvSpPr txBox="1"/>
          <p:nvPr/>
        </p:nvSpPr>
        <p:spPr>
          <a:xfrm>
            <a:off x="4676775" y="4052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Ante comportamientos anómalos o clics sospechosos, desconecta el dispositivo de la red Wi-Fi o cable Ethernet para frenar el Ransomware.</a:t>
            </a:r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472963" y="3729037"/>
            <a:ext cx="298037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Reporte Oficial</a:t>
            </a:r>
            <a:endParaRPr/>
          </a:p>
        </p:txBody>
      </p:sp>
      <p:sp>
        <p:nvSpPr>
          <p:cNvPr id="248" name="Google Shape;248;p21"/>
          <p:cNvSpPr txBox="1"/>
          <p:nvPr/>
        </p:nvSpPr>
        <p:spPr>
          <a:xfrm>
            <a:off x="8543925" y="4052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Informa inmediatamente al área de sistemas corporativa/escolar y realiza la denuncia ante las autoridades de delitos cibernéticos.</a:t>
            </a:r>
            <a:endParaRPr/>
          </a:p>
        </p:txBody>
      </p:sp>
      <p:sp>
        <p:nvSpPr>
          <p:cNvPr id="249" name="Google Shape;249;p21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Respuesta ante Incidentes</a:t>
            </a:r>
            <a:endParaRPr/>
          </a:p>
        </p:txBody>
      </p:sp>
      <p:sp>
        <p:nvSpPr>
          <p:cNvPr id="250" name="Google Shape;250;p21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95662" y="3914775"/>
            <a:ext cx="26765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3914775"/>
            <a:ext cx="25336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53100" y="1419225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2"/>
          <p:cNvSpPr txBox="1"/>
          <p:nvPr/>
        </p:nvSpPr>
        <p:spPr>
          <a:xfrm>
            <a:off x="2095500" y="2295525"/>
            <a:ext cx="8001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 Seguridad es una Cultura</a:t>
            </a:r>
            <a:endParaRPr/>
          </a:p>
        </p:txBody>
      </p:sp>
      <p:sp>
        <p:nvSpPr>
          <p:cNvPr id="260" name="Google Shape;260;p22"/>
          <p:cNvSpPr txBox="1"/>
          <p:nvPr/>
        </p:nvSpPr>
        <p:spPr>
          <a:xfrm>
            <a:off x="2286000" y="3000375"/>
            <a:ext cx="7620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ciberseguridad no es un software que se instala; es un hábito diario que se practica en la escuela, el hogar y el trabajo.</a:t>
            </a:r>
            <a:endParaRPr/>
          </a:p>
        </p:txBody>
      </p:sp>
      <p:sp>
        <p:nvSpPr>
          <p:cNvPr id="261" name="Google Shape;261;p22"/>
          <p:cNvSpPr txBox="1"/>
          <p:nvPr/>
        </p:nvSpPr>
        <p:spPr>
          <a:xfrm>
            <a:off x="2286000" y="4810125"/>
            <a:ext cx="7620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¿Preguntas o comentarios para el debate?</a:t>
            </a:r>
            <a:endParaRPr/>
          </a:p>
        </p:txBody>
      </p:sp>
      <p:pic>
        <p:nvPicPr>
          <p:cNvPr descr="image.png" id="262" name="Google Shape;26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33787" y="40957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0812" y="40957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/>
          <p:nvPr/>
        </p:nvSpPr>
        <p:spPr>
          <a:xfrm>
            <a:off x="571500" y="22431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30146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71500" y="378618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71500" y="30051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571500" y="3776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71500" y="37766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571500" y="4548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71500" y="45481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8" name="Google Shape;27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860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3"/>
          <p:cNvSpPr txBox="1"/>
          <p:nvPr/>
        </p:nvSpPr>
        <p:spPr>
          <a:xfrm>
            <a:off x="1666875" y="23931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https://as1.ftcdn.net/v2/jpg/19/98/31/38/1000_F_1998313896_DRqo6VxEWlWgO7lcTjazQz4uqKl1xnoQ.jpg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1666875" y="26265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www.posters.cz</a:t>
            </a:r>
            <a:endParaRPr/>
          </a:p>
        </p:txBody>
      </p:sp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575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 txBox="1"/>
          <p:nvPr/>
        </p:nvSpPr>
        <p:spPr>
          <a:xfrm>
            <a:off x="1666875" y="31646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https://lookaside.fbsbx.com/lookaside/crawler/media/?media_id=1124060459741287</a:t>
            </a:r>
            <a:endParaRPr/>
          </a:p>
        </p:txBody>
      </p:sp>
      <p:sp>
        <p:nvSpPr>
          <p:cNvPr id="283" name="Google Shape;283;p23"/>
          <p:cNvSpPr txBox="1"/>
          <p:nvPr/>
        </p:nvSpPr>
        <p:spPr>
          <a:xfrm>
            <a:off x="1666875" y="33980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www.facebook.com</a:t>
            </a:r>
            <a:endParaRPr/>
          </a:p>
        </p:txBody>
      </p:sp>
      <p:pic>
        <p:nvPicPr>
          <p:cNvPr descr="image.png" id="284" name="Google Shape;28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290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3"/>
          <p:cNvSpPr txBox="1"/>
          <p:nvPr/>
        </p:nvSpPr>
        <p:spPr>
          <a:xfrm>
            <a:off x="1666875" y="39362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https://www.pandasecurity.com/en/mediacenter/src/uploads/2022/01/types-of-digital-assets-in-digital-footprint-scaled.webp</a:t>
            </a:r>
            <a:endParaRPr/>
          </a:p>
        </p:txBody>
      </p:sp>
      <p:sp>
        <p:nvSpPr>
          <p:cNvPr id="286" name="Google Shape;286;p23"/>
          <p:cNvSpPr txBox="1"/>
          <p:nvPr/>
        </p:nvSpPr>
        <p:spPr>
          <a:xfrm>
            <a:off x="1666875" y="41695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www.pandasecurity.com</a:t>
            </a:r>
            <a:endParaRPr/>
          </a:p>
        </p:txBody>
      </p:sp>
      <p:pic>
        <p:nvPicPr>
          <p:cNvPr descr="image.png" id="287" name="Google Shape;287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00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3"/>
          <p:cNvSpPr txBox="1"/>
          <p:nvPr/>
        </p:nvSpPr>
        <p:spPr>
          <a:xfrm>
            <a:off x="1666875" y="47077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https://lookaside.fbsbx.com/lookaside/crawler/media/?media_id=1422098139934890</a:t>
            </a:r>
            <a:endParaRPr/>
          </a:p>
        </p:txBody>
      </p:sp>
      <p:sp>
        <p:nvSpPr>
          <p:cNvPr id="289" name="Google Shape;289;p23"/>
          <p:cNvSpPr txBox="1"/>
          <p:nvPr/>
        </p:nvSpPr>
        <p:spPr>
          <a:xfrm>
            <a:off x="1666875" y="49410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www.facebook.com</a:t>
            </a:r>
            <a:endParaRPr/>
          </a:p>
        </p:txBody>
      </p:sp>
      <p:sp>
        <p:nvSpPr>
          <p:cNvPr id="290" name="Google Shape;290;p23"/>
          <p:cNvSpPr txBox="1"/>
          <p:nvPr/>
        </p:nvSpPr>
        <p:spPr>
          <a:xfrm>
            <a:off x="571500" y="476250"/>
            <a:ext cx="11601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571500" y="895350"/>
            <a:ext cx="76200" cy="304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