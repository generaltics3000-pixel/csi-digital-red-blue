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7" r:id="rId35"/>
    <p:sldId id="268" r:id="rId36"/>
    <p:sldId id="269" r:id="rId37"/>
    <p:sldId id="270" r:id="rId38"/>
    <p:sldId id="265" r:id="rId15"/>
    <p:sldId id="266" r:id="rId16"/>
  </p:sldIdLst>
  <p:sldSz cy="6858000" cx="12192000"/>
  <p:notesSz cx="6858000" cy="9144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Montserrat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font" Target="fonts/MontserratSemiBold-regular.fntdata"/><Relationship Id="rId18" Type="http://schemas.openxmlformats.org/officeDocument/2006/relationships/font" Target="fonts/MontserratSemiBold-bold.fntdata"/><Relationship Id="rId19" Type="http://schemas.openxmlformats.org/officeDocument/2006/relationships/font" Target="fonts/MontserratSemiBold-italic.fntdata"/><Relationship Id="rId20" Type="http://schemas.openxmlformats.org/officeDocument/2006/relationships/font" Target="fonts/MontserratSemiBold-boldItalic.fntdata"/><Relationship Id="rId21" Type="http://schemas.openxmlformats.org/officeDocument/2006/relationships/font" Target="fonts/InterSemiBold-regular.fntdata"/><Relationship Id="rId22" Type="http://schemas.openxmlformats.org/officeDocument/2006/relationships/font" Target="fonts/InterSemiBold-bold.fntdata"/><Relationship Id="rId23" Type="http://schemas.openxmlformats.org/officeDocument/2006/relationships/font" Target="fonts/InterSemiBold-italic.fntdata"/><Relationship Id="rId24" Type="http://schemas.openxmlformats.org/officeDocument/2006/relationships/font" Target="fonts/InterSemiBold-boldItalic.fntdata"/><Relationship Id="rId25" Type="http://schemas.openxmlformats.org/officeDocument/2006/relationships/font" Target="fonts/Inter-regular.fntdata"/><Relationship Id="rId26" Type="http://schemas.openxmlformats.org/officeDocument/2006/relationships/font" Target="fonts/Inter-bold.fntdata"/><Relationship Id="rId27" Type="http://schemas.openxmlformats.org/officeDocument/2006/relationships/font" Target="fonts/Inter-italic.fntdata"/><Relationship Id="rId28" Type="http://schemas.openxmlformats.org/officeDocument/2006/relationships/font" Target="fonts/Inter-boldItalic.fntdata"/><Relationship Id="rId29" Type="http://schemas.openxmlformats.org/officeDocument/2006/relationships/font" Target="fonts/Montserrat-regular.fntdata"/><Relationship Id="rId30" Type="http://schemas.openxmlformats.org/officeDocument/2006/relationships/font" Target="fonts/Montserrat-bold.fntdata"/><Relationship Id="rId31" Type="http://schemas.openxmlformats.org/officeDocument/2006/relationships/font" Target="fonts/Montserrat-italic.fntdata"/><Relationship Id="rId32" Type="http://schemas.openxmlformats.org/officeDocument/2006/relationships/font" Target="fonts/Montserrat-boldItalic.fntdata"/><Relationship Id="rId33" Type="http://schemas.openxmlformats.org/officeDocument/2006/relationships/font" Target="fonts/MontserratExtraBold-bold.fntdata"/><Relationship Id="rId34" Type="http://schemas.openxmlformats.org/officeDocument/2006/relationships/font" Target="fonts/MontserratExtraBold-boldItalic.fntdata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34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39.png"/><Relationship Id="rId8" Type="http://schemas.openxmlformats.org/officeDocument/2006/relationships/image" Target="../media/image7.png"/><Relationship Id="rId9" Type="http://schemas.openxmlformats.org/officeDocument/2006/relationships/image" Target="../media/image19.png"/><Relationship Id="rId10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27.png"/><Relationship Id="rId9" Type="http://schemas.openxmlformats.org/officeDocument/2006/relationships/image" Target="../media/image14.png"/><Relationship Id="rId10" Type="http://schemas.openxmlformats.org/officeDocument/2006/relationships/image" Target="../media/image30.png"/><Relationship Id="rId11" Type="http://schemas.openxmlformats.org/officeDocument/2006/relationships/image" Target="../media/image17.png"/><Relationship Id="rId1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6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Relationship Id="rId5" Type="http://schemas.openxmlformats.org/officeDocument/2006/relationships/image" Target="../media/image6.png"/><Relationship Id="rId6" Type="http://schemas.openxmlformats.org/officeDocument/2006/relationships/image" Target="../media/image35.png"/><Relationship Id="rId7" Type="http://schemas.openxmlformats.org/officeDocument/2006/relationships/image" Target="../media/image25.png"/><Relationship Id="rId8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49.png"/><Relationship Id="rId5" Type="http://schemas.openxmlformats.org/officeDocument/2006/relationships/image" Target="../media/image6.png"/><Relationship Id="rId6" Type="http://schemas.openxmlformats.org/officeDocument/2006/relationships/image" Target="../media/image47.png"/><Relationship Id="rId7" Type="http://schemas.openxmlformats.org/officeDocument/2006/relationships/image" Target="../media/image24.png"/><Relationship Id="rId8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53.png"/><Relationship Id="rId5" Type="http://schemas.openxmlformats.org/officeDocument/2006/relationships/image" Target="../media/image36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37.png"/><Relationship Id="rId9" Type="http://schemas.openxmlformats.org/officeDocument/2006/relationships/image" Target="../media/image14.png"/><Relationship Id="rId10" Type="http://schemas.openxmlformats.org/officeDocument/2006/relationships/image" Target="../media/image32.png"/><Relationship Id="rId11" Type="http://schemas.openxmlformats.org/officeDocument/2006/relationships/image" Target="../media/image5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40.png"/><Relationship Id="rId7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43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Relationship Id="rId8" Type="http://schemas.openxmlformats.org/officeDocument/2006/relationships/image" Target="../media/image4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48.png"/><Relationship Id="rId5" Type="http://schemas.openxmlformats.org/officeDocument/2006/relationships/image" Target="../media/image54.png"/><Relationship Id="rId6" Type="http://schemas.openxmlformats.org/officeDocument/2006/relationships/image" Target="../media/image58.png"/><Relationship Id="rId7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192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639466"/>
            <a:ext cx="5600700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Ciudadanía Digital Segura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012852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Protección esencial para la escuela, el hogar y el entorno laboral.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5846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876300" y="2291804"/>
            <a:ext cx="2609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CIBERSEGURIDAD Y PRIVACIDAD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628775"/>
            <a:ext cx="531495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8350"/>
            <a:ext cx="5334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38350"/>
            <a:ext cx="5334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" y="4181475"/>
            <a:ext cx="47053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825" y="4181475"/>
            <a:ext cx="47053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2352675"/>
            <a:ext cx="47053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85825" y="2781300"/>
            <a:ext cx="49406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La información es el activo clave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85825" y="3133725"/>
            <a:ext cx="4705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Los ciberdelincuentes buscan identidades comunes para cometer fraudes, suplantar identidades o vender bases de datos privadas.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0825" y="2352675"/>
            <a:ext cx="47053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600825" y="2781300"/>
            <a:ext cx="49406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Las llaves de tu casa digital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00825" y="3133725"/>
            <a:ext cx="4705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Tus datos personales son el acceso directo a tu vida crediticia, familiar y profesional. Trátalos con la misma precaución con la que proteges la puerta de tu hogar.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2419350"/>
            <a:ext cx="138112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152525" y="4352925"/>
            <a:ext cx="4210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Ejemplo habitual: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Compartir ubicación en tiempo real, publicar fotos de alumnos o subir archivos de clientes a nubes públicas sin contraseña.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24650" y="2419350"/>
            <a:ext cx="138112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867525" y="4352925"/>
            <a:ext cx="4210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Regla de oro: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Si no le entregarías una copia de la llave de tu casa a un desconocido, no compartas tus datos personales en plataformas no verificadas.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¿Por qué tus datos importan?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716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203835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El eslabón más débil no es la computadora, es el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 humano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276225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Los atacantes apelan a la urgencia, el miedo o la curiosidad para manipular a las víctimas antes de que piensen.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98120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914400" y="34671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Engaño Típico: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Correos de suspensión de cuenta en 24h o facturas adjuntas falsas (.exe).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14400" y="41529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Regla de los 3 Segundos: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Detente, piensa y verifica la fuente antes de reaccionar.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14400" y="48387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Verificación de Remitente: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Revisa la dirección real del correo y no solo el nombre visible.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909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76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625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Ingeniería Social y Phishing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0275"/>
            <a:ext cx="35306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2200275"/>
            <a:ext cx="35306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2200275"/>
            <a:ext cx="35306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505075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847725" y="3190875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718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Claves Vulnerables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47725" y="3533775"/>
            <a:ext cx="29781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contraseñas cortas o comunes (ej. </a:t>
            </a: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Marzo2026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123456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 se descifran en milisegundos mediante ataques automatizados.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47725" y="4657725"/>
            <a:ext cx="29781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 reutilizas la misma clave, una brecha en un sitio comprometerá tu correo y banca.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6974" y="2505075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4606974" y="3190875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Frases de Contraseña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06974" y="3533775"/>
            <a:ext cx="29781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Combina 4 palabras aleatorias con símbolos (ej. </a:t>
            </a: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Elefante-Mate-Ventana-Azul-26!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06974" y="4400550"/>
            <a:ext cx="297819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Sencilla de recordar para ti, matemáticamente imposible de adivinar para un robot.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6224" y="2505075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8366224" y="3190875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Gestores de Claves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366224" y="3533775"/>
            <a:ext cx="29781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Utiliza herramientas como Bitwarden o 1Password para generar y almacenar claves únicas.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366224" y="4400550"/>
            <a:ext cx="29781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Elimina la necesidad de memorizar decenas de contraseñas complejas.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5362" y="26384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40324" y="26384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85286" y="263842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Contraseñas Robustas vs. Débiles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57437"/>
            <a:ext cx="533400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2057400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Las contraseñas ya no son suficientes. Necesitas una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segunda capa de defensa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0" y="2747962"/>
            <a:ext cx="762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6563201" y="3548062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Protección en 2 Pasos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677025" y="3938587"/>
            <a:ext cx="4552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Paso 1: Tu Contraseña Secreta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677025" y="4586287"/>
            <a:ext cx="4552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Paso 2: Código Temporal de App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7775" y="42814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914400" y="2876550"/>
            <a:ext cx="4991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Barrera Antirrobo: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 un atacante adivina tu clave desde otro país, el sistema requerirá un código dinámico que solo llega a tu celular.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14400" y="3838575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Activación Esencial: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Habilítalo en WhatsApp, correo corporativo, escolar y redes sociales sin excepción.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14400" y="4543425"/>
            <a:ext cx="4991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Prefiere Apps Autenticadoras: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Usa Google o Microsoft Authenticator en lugar de SMS, ya que los SMS pueden interceptarse.</a:t>
            </a:r>
            <a:endParaRPr/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0036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8623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5672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Doble Factor de Autenticación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9400"/>
            <a:ext cx="53340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716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71500" y="215265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Cualquier publicación construye tu </a:t>
            </a: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huella digital permanente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puede ser explotada en tu contra.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38200" y="2990850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Evita el Oversharing: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No publiques pases de abordar (códigos QR), prendas con logos de colegio/trabajo ni responder trivias virales que revelen tus preguntas de seguridad.</a:t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98120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914400" y="40386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Configuración de Perfil: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Mantén tus cuentas siempre configuradas como "Privadas".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14400" y="47244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Filtro de la Abuela: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 no mostrarías esa foto o comentario en persona a tu abuela o jefe, no lo subas a la red.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624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4821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Privacidad y Redes Sociales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5100"/>
            <a:ext cx="53340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716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71500" y="2009775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Las redes Wi-Fi abiertas de aeropuertos, plazas o cafeterías </a:t>
            </a:r>
            <a:r>
              <a:rPr b="0" i="0" lang="en-US" sz="1425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carecen de cifrado seguro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38200" y="2876550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Riesgo de interceptación: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Un atacante conectado a la misma red pública puede clonar la señal o interceptar tus credenciales y correos confidenciales.</a:t>
            </a:r>
            <a:endParaRPr/>
          </a:p>
        </p:txBody>
      </p:sp>
      <p:pic>
        <p:nvPicPr>
          <p:cNvPr descr="image.png" id="199" name="Google Shape;19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98120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914400" y="39243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Prioriza tus Datos Móviles: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Usa la red de tu operador telefónico para transacciones bancarias o laborales.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14400" y="4610100"/>
            <a:ext cx="4991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Usa siempre una VPN: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 es indispensable usar Wi-Fi pública, activa una Red Privada Virtual para cifrar el tráfico de extremo a extremo.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481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3391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Conectividad en Zonas Públicas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9325"/>
            <a:ext cx="35306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2219325"/>
            <a:ext cx="35306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2219325"/>
            <a:ext cx="35306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4955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847725" y="3181350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Auditoría Inicial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47725" y="3524250"/>
            <a:ext cx="29781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Revisa minuciosamente los permisos que solicitan las aplicaciones inmediatamente después de instalarlas.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47725" y="4667250"/>
            <a:ext cx="29781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Cuestiona por qué una app de linterna requiere acceso a tus contactos o micrófono.</a:t>
            </a:r>
            <a:endParaRPr/>
          </a:p>
        </p:txBody>
      </p:sp>
      <p:pic>
        <p:nvPicPr>
          <p:cNvPr descr="image.png" id="218" name="Google Shape;21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6974" y="24955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4606974" y="3181350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Menor Privilegio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4606974" y="3524250"/>
            <a:ext cx="29781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Deniega el acceso a cámara, micrófono, galería y ubicación si no corresponden con la función real de la app.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606974" y="4667250"/>
            <a:ext cx="29781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Limita la recolección innecesaria de telemetría y datos personales.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6224" y="24955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8366224" y="3181350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Depuración Periódica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366224" y="3524250"/>
            <a:ext cx="29781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Elimina del dispositivo las aplicaciones que no hayas utilizado en el último mes.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366224" y="4410075"/>
            <a:ext cx="29781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Reducirás la superficie de ataque y prevendrás posibles fugas de datos en segundo plano.</a:t>
            </a:r>
            <a:endParaRPr/>
          </a:p>
        </p:txBody>
      </p:sp>
      <p:pic>
        <p:nvPicPr>
          <p:cNvPr descr="image.png" id="226" name="Google Shape;22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1075" y="2628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13861" y="26289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Permisos Abusivos en Apps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350" y="3195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3195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2650" y="3195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57512"/>
            <a:ext cx="33147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38650" y="2957512"/>
            <a:ext cx="33147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05800" y="2957512"/>
            <a:ext cx="331470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571500" y="241458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riesgo cero no existe. La diferencia radica en la </a:t>
            </a: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velocidad de contención y respuesta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1676400" y="4038600"/>
            <a:ext cx="8839200" cy="28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738663" y="3729037"/>
            <a:ext cx="298037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Notificación Inmediata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809625" y="4052887"/>
            <a:ext cx="28384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 clonan tu WhatsApp o cuenta, alerta a tus contactos vía telefónica inmediata para evitar estafas masivas a tu nombre.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4605813" y="3729037"/>
            <a:ext cx="298037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Aislamiento del Equipo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4676775" y="405288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Ante comportamientos anómalos o clics sospechosos, desconecta el dispositivo de la red Wi-Fi o cable Ethernet para frenar el Ransomware.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8472963" y="3729037"/>
            <a:ext cx="298037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Reporte Oficial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8543925" y="405288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Informa inmediatamente al área de sistemas corporativa/escolar y realiza la denuncia ante las autoridades de delitos cibernéticos.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Respuesta ante Incidentes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38912"/>
            <a:ext cx="110459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Montserrat"/>
              </a:defRPr>
            </a:pPr>
            <a:r>
              <a:t>Anatomía del Engaño en WhatsApp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24128"/>
            <a:ext cx="110459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Inter"/>
              </a:rPr>
              <a:t>Desglosamos la estructura de un mensaje fraudulento (Smishing): </a:t>
            </a:r>
            <a:r>
              <a:rPr sz="1300" b="1">
                <a:solidFill>
                  <a:srgbClr val="38BDF8"/>
                </a:solidFill>
                <a:latin typeface="Inter"/>
              </a:rPr>
              <a:t>cómo operan los ciberatacantes paso a paso</a:t>
            </a:r>
            <a:r>
              <a:rPr sz="130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554480"/>
            <a:ext cx="25603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6092" y="1810512"/>
            <a:ext cx="2231136" cy="310896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BAE6FD"/>
                </a:solidFill>
                <a:latin typeface="Montserrat"/>
              </a:rPr>
              <a:t>1. SUPLANTACIÓN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" y="2249424"/>
            <a:ext cx="2231136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8BDF8"/>
                </a:solidFill>
                <a:latin typeface="Montserrat"/>
              </a:defRPr>
            </a:pPr>
            <a:r>
              <a:t>Falso Remitente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Inter"/>
              </a:defRPr>
            </a:pPr>
            <a:r>
              <a:t>Generar confianza inmediata.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1F5F9"/>
                </a:solidFill>
                <a:latin typeface="Inter"/>
              </a:rPr>
              <a:t>• Logo Robado: </a:t>
            </a:r>
            <a:r>
              <a:rPr sz="1000">
                <a:solidFill>
                  <a:srgbClr val="94A3B8"/>
                </a:solidFill>
                <a:latin typeface="Inter"/>
              </a:rPr>
              <a:t>Uso de marcas conocidas (WhatsApp, MercadoPago, Bancos).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1F5F9"/>
                </a:solidFill>
                <a:latin typeface="Inter"/>
              </a:rPr>
              <a:t>• Nombre Formal: </a:t>
            </a:r>
            <a:r>
              <a:rPr sz="1000">
                <a:solidFill>
                  <a:srgbClr val="94A3B8"/>
                </a:solidFill>
                <a:latin typeface="Inter"/>
              </a:rPr>
              <a:t>'Soporte Oficial' o 'Beca Conectividad 2026'.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1F5F9"/>
                </a:solidFill>
                <a:latin typeface="Inter"/>
              </a:rPr>
              <a:t>• Número Raro: </a:t>
            </a:r>
            <a:r>
              <a:rPr sz="1000">
                <a:solidFill>
                  <a:srgbClr val="94A3B8"/>
                </a:solidFill>
                <a:latin typeface="Inter"/>
              </a:rPr>
              <a:t>Prefijos internacionales o números no agendados.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" y="5669280"/>
            <a:ext cx="2231136" cy="512064"/>
          </a:xfrm>
          <a:prstGeom prst="roundRect">
            <a:avLst/>
          </a:prstGeom>
          <a:solidFill>
            <a:srgbClr val="0C1A2E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950" b="1">
                <a:solidFill>
                  <a:srgbClr val="BAE6FD"/>
                </a:solidFill>
                <a:latin typeface="Inter"/>
              </a:rPr>
              <a:t>🎯 Falsa autoridad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6996" y="1554480"/>
            <a:ext cx="25603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1588" y="1810512"/>
            <a:ext cx="2231136" cy="310896"/>
          </a:xfrm>
          <a:prstGeom prst="roundRect">
            <a:avLst/>
          </a:prstGeom>
          <a:solidFill>
            <a:srgbClr val="78350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DE68A"/>
                </a:solidFill>
                <a:latin typeface="Montserrat"/>
              </a:rPr>
              <a:t>2. EL GANCHO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1588" y="2249424"/>
            <a:ext cx="2231136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BBF24"/>
                </a:solidFill>
                <a:latin typeface="Montserrat"/>
              </a:defRPr>
            </a:pPr>
            <a:r>
              <a:t>Disparador Emocional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Inter"/>
              </a:defRPr>
            </a:pPr>
            <a:r>
              <a:t>Bloquear el pensamiento crítico.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1F5F9"/>
                </a:solidFill>
                <a:latin typeface="Inter"/>
              </a:rPr>
              <a:t>• Urgencia Extrema: </a:t>
            </a:r>
            <a:r>
              <a:rPr sz="1000">
                <a:solidFill>
                  <a:srgbClr val="94A3B8"/>
                </a:solidFill>
                <a:latin typeface="Inter"/>
              </a:rPr>
              <a:t>'Tu cuenta se bloqueará en 30 minutos'.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1F5F9"/>
                </a:solidFill>
                <a:latin typeface="Inter"/>
              </a:rPr>
              <a:t>• Premio / Subsidio: </a:t>
            </a:r>
            <a:r>
              <a:rPr sz="1000">
                <a:solidFill>
                  <a:srgbClr val="94A3B8"/>
                </a:solidFill>
                <a:latin typeface="Inter"/>
              </a:rPr>
              <a:t>Falsas promesas de dinero fácil o regalos.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1F5F9"/>
                </a:solidFill>
                <a:latin typeface="Inter"/>
              </a:rPr>
              <a:t>• Curiosidad / Miedo: </a:t>
            </a:r>
            <a:r>
              <a:rPr sz="1000">
                <a:solidFill>
                  <a:srgbClr val="94A3B8"/>
                </a:solidFill>
                <a:latin typeface="Inter"/>
              </a:rPr>
              <a:t>Alerta sobre supuestas compras no autorizadas.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1588" y="5669280"/>
            <a:ext cx="2231136" cy="512064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950" b="1">
                <a:solidFill>
                  <a:srgbClr val="FDE68A"/>
                </a:solidFill>
                <a:latin typeface="Inter"/>
              </a:rPr>
              <a:t>⚡ Forzar acción impulsiva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2492" y="1554480"/>
            <a:ext cx="25603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87084" y="1810512"/>
            <a:ext cx="2231136" cy="310896"/>
          </a:xfrm>
          <a:prstGeom prst="roundRect">
            <a:avLst/>
          </a:prstGeom>
          <a:solidFill>
            <a:srgbClr val="450A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ECACA"/>
                </a:solidFill>
                <a:latin typeface="Montserrat"/>
              </a:rPr>
              <a:t>3. LA TRAMPA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7084" y="2249424"/>
            <a:ext cx="2231136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87171"/>
                </a:solidFill>
                <a:latin typeface="Montserrat"/>
              </a:defRPr>
            </a:pPr>
            <a:r>
              <a:t>Trampa Técnica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Inter"/>
              </a:defRPr>
            </a:pPr>
            <a:r>
              <a:t>El vector del ciberataque.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1F5F9"/>
                </a:solidFill>
                <a:latin typeface="Inter"/>
              </a:rPr>
              <a:t>• Enlace Falso: </a:t>
            </a:r>
            <a:r>
              <a:rPr sz="1000">
                <a:solidFill>
                  <a:srgbClr val="94A3B8"/>
                </a:solidFill>
                <a:latin typeface="Inter"/>
              </a:rPr>
              <a:t>URLs engañosas (.free.nf, banconac1on.xyz).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1F5F9"/>
                </a:solidFill>
                <a:latin typeface="Inter"/>
              </a:rPr>
              <a:t>• Robo de Código SMS: </a:t>
            </a:r>
            <a:r>
              <a:rPr sz="1000">
                <a:solidFill>
                  <a:srgbClr val="94A3B8"/>
                </a:solidFill>
                <a:latin typeface="Inter"/>
              </a:rPr>
              <a:t>Piden el código de 6 dígitos para robar WhatsApp.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1F5F9"/>
                </a:solidFill>
                <a:latin typeface="Inter"/>
              </a:rPr>
              <a:t>• Adjuntos Trampa: </a:t>
            </a:r>
            <a:r>
              <a:rPr sz="1000">
                <a:solidFill>
                  <a:srgbClr val="94A3B8"/>
                </a:solidFill>
                <a:latin typeface="Inter"/>
              </a:rPr>
              <a:t>Archivos ejecutables (.apk/.exe) disfrazados.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7084" y="5669280"/>
            <a:ext cx="2231136" cy="512064"/>
          </a:xfrm>
          <a:prstGeom prst="roundRect">
            <a:avLst/>
          </a:prstGeom>
          <a:solidFill>
            <a:srgbClr val="18121E"/>
          </a:solidFill>
          <a:ln w="127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950" b="1">
                <a:solidFill>
                  <a:srgbClr val="FECACA"/>
                </a:solidFill>
                <a:latin typeface="Inter"/>
              </a:rPr>
              <a:t>🪤 Robo de credenciales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7988" y="1554480"/>
            <a:ext cx="25603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12580" y="1810512"/>
            <a:ext cx="2231136" cy="310896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DDD6FE"/>
                </a:solidFill>
                <a:latin typeface="Montserrat"/>
              </a:rPr>
              <a:t>4. AISLAMIENTO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2580" y="2249424"/>
            <a:ext cx="2231136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C4B5FD"/>
                </a:solidFill>
                <a:latin typeface="Montserrat"/>
              </a:defRPr>
            </a:pPr>
            <a:r>
              <a:t>Presión &amp; Silencio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Inter"/>
              </a:defRPr>
            </a:pPr>
            <a:r>
              <a:t>Evitar que consultes con otros.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1F5F9"/>
                </a:solidFill>
                <a:latin typeface="Inter"/>
              </a:rPr>
              <a:t>• Confidencialidad: </a:t>
            </a:r>
            <a:r>
              <a:rPr sz="1000">
                <a:solidFill>
                  <a:srgbClr val="94A3B8"/>
                </a:solidFill>
                <a:latin typeface="Inter"/>
              </a:rPr>
              <a:t>'No comentes con nadie por seguridad bancaria'.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1F5F9"/>
                </a:solidFill>
                <a:latin typeface="Inter"/>
              </a:rPr>
              <a:t>• Sin Canales Reales: </a:t>
            </a:r>
            <a:r>
              <a:rPr sz="1000">
                <a:solidFill>
                  <a:srgbClr val="94A3B8"/>
                </a:solidFill>
                <a:latin typeface="Inter"/>
              </a:rPr>
              <a:t>Exigen no llamar al 0800 ni ir a la sucursal.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1F5F9"/>
                </a:solidFill>
                <a:latin typeface="Inter"/>
              </a:rPr>
              <a:t>• Acoso Digital: </a:t>
            </a:r>
            <a:r>
              <a:rPr sz="1000">
                <a:solidFill>
                  <a:srgbClr val="94A3B8"/>
                </a:solidFill>
                <a:latin typeface="Inter"/>
              </a:rPr>
              <a:t>Insistencia para no dar tiempo a reflexionar.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2580" y="5669280"/>
            <a:ext cx="2231136" cy="512064"/>
          </a:xfrm>
          <a:prstGeom prst="roundRect">
            <a:avLst/>
          </a:prstGeom>
          <a:solidFill>
            <a:srgbClr val="18102A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950" b="1">
                <a:solidFill>
                  <a:srgbClr val="DDD6FE"/>
                </a:solidFill>
                <a:latin typeface="Inter"/>
              </a:rPr>
              <a:t>🛑 Bloquear la verificación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38912"/>
            <a:ext cx="110459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Montserrat"/>
              </a:defRPr>
            </a:pPr>
            <a:r>
              <a:t>Señales de Alerta: Auditoría de un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24128"/>
            <a:ext cx="110459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Inter"/>
              </a:rPr>
              <a:t>Tres filtros forenses para </a:t>
            </a:r>
            <a:r>
              <a:rPr sz="1300" b="1">
                <a:solidFill>
                  <a:srgbClr val="38BDF8"/>
                </a:solidFill>
                <a:latin typeface="Inter"/>
              </a:rPr>
              <a:t>desarmar cualquier engaño</a:t>
            </a:r>
            <a:r>
              <a:rPr sz="1300">
                <a:solidFill>
                  <a:srgbClr val="94A3B8"/>
                </a:solidFill>
                <a:latin typeface="Inter"/>
              </a:rPr>
              <a:t> antes de hacer clic o responder.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554480"/>
            <a:ext cx="3493008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0100" y="1810512"/>
            <a:ext cx="118872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BAE6FD"/>
                </a:solidFill>
                <a:latin typeface="Montserrat"/>
              </a:rPr>
              <a:t>FILTRO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249424"/>
            <a:ext cx="3035808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38BDF8"/>
                </a:solidFill>
                <a:latin typeface="Montserrat"/>
              </a:defRPr>
            </a:pPr>
            <a:r>
              <a:t>1. Auditar el Remitente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Inspeccionar el origen del contacto.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🚩 Número Desconocido: </a:t>
            </a:r>
            <a:r>
              <a:rPr sz="1050">
                <a:solidFill>
                  <a:srgbClr val="94A3B8"/>
                </a:solidFill>
                <a:latin typeface="Inter"/>
              </a:rPr>
              <a:t>Si no está agendado o usa un prefijo internacional (+62, +234, +1), sospecha.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🚩 Falta de Tilde Verde: </a:t>
            </a:r>
            <a:r>
              <a:rPr sz="1050">
                <a:solidFill>
                  <a:srgbClr val="94A3B8"/>
                </a:solidFill>
                <a:latin typeface="Inter"/>
              </a:rPr>
              <a:t>Las empresas oficiales poseen verificación de WhatsApp certificada.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🚩 Foto de Perfil: </a:t>
            </a:r>
            <a:r>
              <a:rPr sz="1050">
                <a:solidFill>
                  <a:srgbClr val="94A3B8"/>
                </a:solidFill>
                <a:latin typeface="Inter"/>
              </a:rPr>
              <a:t>Logos pixelados o descargados de internet son indicio claro de fraude.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5669280"/>
            <a:ext cx="3035808" cy="512064"/>
          </a:xfrm>
          <a:prstGeom prst="roundRect">
            <a:avLst/>
          </a:prstGeom>
          <a:solidFill>
            <a:srgbClr val="0C1A2E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000" b="1">
                <a:solidFill>
                  <a:srgbClr val="BAE6FD"/>
                </a:solidFill>
                <a:latin typeface="Inter"/>
              </a:rPr>
              <a:t>🔍 Verificar en canales oficiales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8886" y="1554480"/>
            <a:ext cx="3493008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7486" y="1810512"/>
            <a:ext cx="1188720" cy="320040"/>
          </a:xfrm>
          <a:prstGeom prst="roundRect">
            <a:avLst/>
          </a:prstGeom>
          <a:solidFill>
            <a:srgbClr val="78350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DE68A"/>
                </a:solidFill>
                <a:latin typeface="Montserrat"/>
              </a:rPr>
              <a:t>FILTRO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7486" y="2249424"/>
            <a:ext cx="3035808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BBF24"/>
                </a:solidFill>
                <a:latin typeface="Montserrat"/>
              </a:defRPr>
            </a:pPr>
            <a:r>
              <a:t>2. Inspeccionar el Enlace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Examinar minuciosamente la URL.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🚩 Dominios Falsos: </a:t>
            </a:r>
            <a:r>
              <a:rPr sz="1050">
                <a:solidFill>
                  <a:srgbClr val="94A3B8"/>
                </a:solidFill>
                <a:latin typeface="Inter"/>
              </a:rPr>
              <a:t>Revisa la dirección exacta (.xyz, .free.nf, .top en vez de .com o .gob.ar).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🚩 Typosquatting: </a:t>
            </a:r>
            <a:r>
              <a:rPr sz="1050">
                <a:solidFill>
                  <a:srgbClr val="94A3B8"/>
                </a:solidFill>
                <a:latin typeface="Inter"/>
              </a:rPr>
              <a:t>Letras cambiadas que imitan sitios reales (ej. mercadopag0.com).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🚩 Acortadores Ocultos: </a:t>
            </a:r>
            <a:r>
              <a:rPr sz="1050">
                <a:solidFill>
                  <a:srgbClr val="94A3B8"/>
                </a:solidFill>
                <a:latin typeface="Inter"/>
              </a:rPr>
              <a:t>Enlaces tipo bit.ly o tinyurl que esconden la web de destino.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7486" y="5669280"/>
            <a:ext cx="3035808" cy="512064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000" b="1">
                <a:solidFill>
                  <a:srgbClr val="FDE68A"/>
                </a:solidFill>
                <a:latin typeface="Inter"/>
              </a:rPr>
              <a:t>🚫 No ingresar contraseñas en links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187" y="1554480"/>
            <a:ext cx="3493008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55787" y="1810512"/>
            <a:ext cx="118872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A7F3D0"/>
                </a:solidFill>
                <a:latin typeface="Montserrat"/>
              </a:rPr>
              <a:t>FILTRO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5787" y="2249424"/>
            <a:ext cx="3035808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34D399"/>
                </a:solidFill>
                <a:latin typeface="Montserrat"/>
              </a:defRPr>
            </a:pPr>
            <a:r>
              <a:t>3. Regla del Código SMS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La última barrera de defensa.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🚩 Código de 6 Dígitos: </a:t>
            </a:r>
            <a:r>
              <a:rPr sz="1050">
                <a:solidFill>
                  <a:srgbClr val="94A3B8"/>
                </a:solidFill>
                <a:latin typeface="Inter"/>
              </a:rPr>
              <a:t>Si te piden el código SMS que te acaba de llegar, quieren robar tu WhatsApp.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🚩 El Banco Nunca Pide Claves: </a:t>
            </a:r>
            <a:r>
              <a:rPr sz="1050">
                <a:solidFill>
                  <a:srgbClr val="94A3B8"/>
                </a:solidFill>
                <a:latin typeface="Inter"/>
              </a:rPr>
              <a:t>Ninguna entidad solicita contraseñas o Tokens por mensaje.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F5F9"/>
                </a:solidFill>
                <a:latin typeface="Inter"/>
              </a:rPr>
              <a:t>🚩 Regla de los 3 Segundos: </a:t>
            </a:r>
            <a:r>
              <a:rPr sz="1050">
                <a:solidFill>
                  <a:srgbClr val="94A3B8"/>
                </a:solidFill>
                <a:latin typeface="Inter"/>
              </a:rPr>
              <a:t>Detente, piensa con calma y no actúes impulsivamente bajo presión.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5787" y="5669280"/>
            <a:ext cx="3035808" cy="512064"/>
          </a:xfrm>
          <a:prstGeom prst="roundRect">
            <a:avLst/>
          </a:prstGeom>
          <a:solidFill>
            <a:srgbClr val="0A2018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000" b="1">
                <a:solidFill>
                  <a:srgbClr val="A7F3D0"/>
                </a:solidFill>
                <a:latin typeface="Inter"/>
              </a:rPr>
              <a:t>🛡️ Tu código SMS es confidencial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38912"/>
            <a:ext cx="110459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Montserrat"/>
              </a:defRPr>
            </a:pPr>
            <a:r>
              <a:t>Actividad Práctica: Modo Armador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24128"/>
            <a:ext cx="110459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Inter"/>
              </a:rPr>
              <a:t>Misión individual: ponte en el rol de creador para </a:t>
            </a:r>
            <a:r>
              <a:rPr sz="1300" b="1">
                <a:solidFill>
                  <a:srgbClr val="38BDF8"/>
                </a:solidFill>
                <a:latin typeface="Inter"/>
              </a:rPr>
              <a:t>comprender la ingeniería social desde adentro</a:t>
            </a:r>
            <a:r>
              <a:rPr sz="130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554480"/>
            <a:ext cx="5376672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10512"/>
            <a:ext cx="2926080" cy="329184"/>
          </a:xfrm>
          <a:prstGeom prst="roundRect">
            <a:avLst/>
          </a:prstGeom>
          <a:solidFill>
            <a:srgbClr val="500724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BCFE8"/>
                </a:solidFill>
                <a:latin typeface="Montserrat"/>
              </a:rPr>
              <a:t>🎯 MISIÓN 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9424"/>
            <a:ext cx="478231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472B6"/>
                </a:solidFill>
                <a:latin typeface="Montserrat"/>
              </a:defRPr>
            </a:pPr>
            <a:r>
              <a:t>Armá tu Mensaje de Engaño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Elegirás los 4 componentes según el objetivo secreto asignado por el facilitador.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DE7F3"/>
                </a:solidFill>
                <a:latin typeface="Inter"/>
              </a:rPr>
              <a:t>🎯 1. Objetivo Asignado: </a:t>
            </a:r>
            <a:r>
              <a:rPr sz="1100">
                <a:solidFill>
                  <a:srgbClr val="94A3B8"/>
                </a:solidFill>
                <a:latin typeface="Inter"/>
              </a:rPr>
              <a:t>Robar un código de verificación, clonar credenciales o simular una beca.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DE7F3"/>
                </a:solidFill>
                <a:latin typeface="Inter"/>
              </a:rPr>
              <a:t>📱 2. Remitente: </a:t>
            </a:r>
            <a:r>
              <a:rPr sz="1100">
                <a:solidFill>
                  <a:srgbClr val="94A3B8"/>
                </a:solidFill>
                <a:latin typeface="Inter"/>
              </a:rPr>
              <a:t>Elegir entre amigo guardado, soporte oficial de marca o número desconocido.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DE7F3"/>
                </a:solidFill>
                <a:latin typeface="Inter"/>
              </a:rPr>
              <a:t>⚡ 3. Gancho Psicológico: </a:t>
            </a:r>
            <a:r>
              <a:rPr sz="1100">
                <a:solidFill>
                  <a:srgbClr val="94A3B8"/>
                </a:solidFill>
                <a:latin typeface="Inter"/>
              </a:rPr>
              <a:t>Seleccionar el motivo: urgencia extrema, premio en efectivo o bloqueo.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DE7F3"/>
                </a:solidFill>
                <a:latin typeface="Inter"/>
              </a:rPr>
              <a:t>🪤 4. Trampa y Cierre: </a:t>
            </a:r>
            <a:r>
              <a:rPr sz="1100">
                <a:solidFill>
                  <a:srgbClr val="94A3B8"/>
                </a:solidFill>
                <a:latin typeface="Inter"/>
              </a:rPr>
              <a:t>Añadir enlace fraudulento, pedido de código o advertencia de confidencialidad.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669280"/>
            <a:ext cx="4782312" cy="512064"/>
          </a:xfrm>
          <a:prstGeom prst="roundRect">
            <a:avLst/>
          </a:prstGeom>
          <a:solidFill>
            <a:srgbClr val="1E0E18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050" b="1">
                <a:solidFill>
                  <a:srgbClr val="F472B6"/>
                </a:solidFill>
                <a:latin typeface="Inter"/>
              </a:rPr>
              <a:t>📱 En tu Celular: </a:t>
            </a:r>
            <a:r>
              <a:rPr sz="1000">
                <a:solidFill>
                  <a:srgbClr val="E2E8F0"/>
                </a:solidFill>
                <a:latin typeface="Inter"/>
              </a:rPr>
              <a:t>Seleccionar las 4 opciones y enviar tu mensaje.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3523" y="1554480"/>
            <a:ext cx="5376672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40703" y="1810512"/>
            <a:ext cx="2926080" cy="329184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BAE6FD"/>
                </a:solidFill>
                <a:latin typeface="Montserrat"/>
              </a:rPr>
              <a:t>💬 SIMULADOR DE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0703" y="2249424"/>
            <a:ext cx="478231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38BDF8"/>
                </a:solidFill>
                <a:latin typeface="Montserrat"/>
              </a:defRPr>
            </a:pPr>
            <a:r>
              <a:t>Previsualización en Vivo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Mira cómo cobra vida tu engaño en tiempo real antes de enviarlo al sistema.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0F2FE"/>
                </a:solidFill>
                <a:latin typeface="Inter"/>
              </a:rPr>
              <a:t>👁️ Interfaz Real de WhatsApp: </a:t>
            </a:r>
            <a:r>
              <a:rPr sz="1100">
                <a:solidFill>
                  <a:srgbClr val="94A3B8"/>
                </a:solidFill>
                <a:latin typeface="Inter"/>
              </a:rPr>
              <a:t>Tu mensaje se construye en vivo con globos de chat y hora de envío.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0F2FE"/>
                </a:solidFill>
                <a:latin typeface="Inter"/>
              </a:rPr>
              <a:t>🧠 Astucia vs. Detección: </a:t>
            </a:r>
            <a:r>
              <a:rPr sz="1100">
                <a:solidFill>
                  <a:srgbClr val="94A3B8"/>
                </a:solidFill>
                <a:latin typeface="Inter"/>
              </a:rPr>
              <a:t>¿Podrás crear un mensaje convincente sin dejar pistas demasiado obvias?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0F2FE"/>
                </a:solidFill>
                <a:latin typeface="Inter"/>
              </a:rPr>
              <a:t>💾 Guardado Automático: </a:t>
            </a:r>
            <a:r>
              <a:rPr sz="1100">
                <a:solidFill>
                  <a:srgbClr val="94A3B8"/>
                </a:solidFill>
                <a:latin typeface="Inter"/>
              </a:rPr>
              <a:t>Si se corta la conexión del aula, tu progreso se preserva intacto.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0F2FE"/>
                </a:solidFill>
                <a:latin typeface="Inter"/>
              </a:rPr>
              <a:t>⏱️ Cronómetro en Vivo: </a:t>
            </a:r>
            <a:r>
              <a:rPr sz="1100">
                <a:solidFill>
                  <a:srgbClr val="94A3B8"/>
                </a:solidFill>
                <a:latin typeface="Inter"/>
              </a:rPr>
              <a:t>Sigue el tiempo del reloj sincronizado con la pantalla del aula.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0703" y="5669280"/>
            <a:ext cx="4782312" cy="512064"/>
          </a:xfrm>
          <a:prstGeom prst="roundRect">
            <a:avLst/>
          </a:prstGeom>
          <a:solidFill>
            <a:srgbClr val="0C1A2E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050" b="1">
                <a:solidFill>
                  <a:srgbClr val="38BDF8"/>
                </a:solidFill>
                <a:latin typeface="Inter"/>
              </a:rPr>
              <a:t>⚡ 100% Web: </a:t>
            </a:r>
            <a:r>
              <a:rPr sz="1000">
                <a:solidFill>
                  <a:srgbClr val="E2E8F0"/>
                </a:solidFill>
                <a:latin typeface="Inter"/>
              </a:rPr>
              <a:t>Sin registro ni instalación. Ingreso con QR gigante.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38912"/>
            <a:ext cx="110459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Montserrat"/>
              </a:defRPr>
            </a:pPr>
            <a:r>
              <a:t>Retroalimentación: Personal y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24128"/>
            <a:ext cx="110459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Inter"/>
              </a:rPr>
              <a:t>Evaluación instantánea en tu celular y </a:t>
            </a:r>
            <a:r>
              <a:rPr sz="1300" b="1">
                <a:solidFill>
                  <a:srgbClr val="38BDF8"/>
                </a:solidFill>
                <a:latin typeface="Inter"/>
              </a:rPr>
              <a:t>puesta en común grupal en pantalla gigante</a:t>
            </a:r>
            <a:r>
              <a:rPr sz="130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554480"/>
            <a:ext cx="5376672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10512"/>
            <a:ext cx="292608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7F3D0"/>
                </a:solidFill>
                <a:latin typeface="Montserrat"/>
              </a:rPr>
              <a:t>📱 FEEDBACK PERSONAL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9424"/>
            <a:ext cx="478231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34D399"/>
                </a:solidFill>
                <a:latin typeface="Montserrat"/>
              </a:defRPr>
            </a:pPr>
            <a:r>
              <a:t>Evaluación en tu Dispositivo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Análisis técnico automatizado e instantáneo al momento de enviar.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D1FAE5"/>
                </a:solidFill>
                <a:latin typeface="Inter"/>
              </a:rPr>
              <a:t>📊 Puntaje de Efectividad: </a:t>
            </a:r>
            <a:r>
              <a:rPr sz="1100">
                <a:solidFill>
                  <a:srgbClr val="94A3B8"/>
                </a:solidFill>
                <a:latin typeface="Inter"/>
              </a:rPr>
              <a:t>Métricas de persuasión e impacto según las opciones elegidas.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D1FAE5"/>
                </a:solidFill>
                <a:latin typeface="Inter"/>
              </a:rPr>
              <a:t>🔍 Detección Forense: </a:t>
            </a:r>
            <a:r>
              <a:rPr sz="1100">
                <a:solidFill>
                  <a:srgbClr val="94A3B8"/>
                </a:solidFill>
                <a:latin typeface="Inter"/>
              </a:rPr>
              <a:t>Desglose punto por punto de qué pistas o errores delataron el engaño.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D1FAE5"/>
                </a:solidFill>
                <a:latin typeface="Inter"/>
              </a:rPr>
              <a:t>💡 Por Qué Funciona: </a:t>
            </a:r>
            <a:r>
              <a:rPr sz="1100">
                <a:solidFill>
                  <a:srgbClr val="94A3B8"/>
                </a:solidFill>
                <a:latin typeface="Inter"/>
              </a:rPr>
              <a:t>Explicación psicológica de por qué una víctima caería ante tu mensaje.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D1FAE5"/>
                </a:solidFill>
                <a:latin typeface="Inter"/>
              </a:rPr>
              <a:t>🛡️ Consejos de Blindaje: </a:t>
            </a:r>
            <a:r>
              <a:rPr sz="1100">
                <a:solidFill>
                  <a:srgbClr val="94A3B8"/>
                </a:solidFill>
                <a:latin typeface="Inter"/>
              </a:rPr>
              <a:t>Recomendaciones personalizadas para no ser engañado en la vida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669280"/>
            <a:ext cx="4782312" cy="512064"/>
          </a:xfrm>
          <a:prstGeom prst="roundRect">
            <a:avLst/>
          </a:prstGeom>
          <a:solidFill>
            <a:srgbClr val="0A2018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050" b="1">
                <a:solidFill>
                  <a:srgbClr val="34D399"/>
                </a:solidFill>
                <a:latin typeface="Inter"/>
              </a:rPr>
              <a:t>📈 Diagnóstico Instantáneo: </a:t>
            </a:r>
            <a:r>
              <a:rPr sz="1000">
                <a:solidFill>
                  <a:srgbClr val="E2E8F0"/>
                </a:solidFill>
                <a:latin typeface="Inter"/>
              </a:rPr>
              <a:t>Aprende de tus aciertos y descuidos.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3523" y="1554480"/>
            <a:ext cx="5376672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40703" y="1810512"/>
            <a:ext cx="2926080" cy="329184"/>
          </a:xfrm>
          <a:prstGeom prst="roundRect">
            <a:avLst/>
          </a:prstGeom>
          <a:solidFill>
            <a:srgbClr val="78350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DE68A"/>
                </a:solidFill>
                <a:latin typeface="Montserrat"/>
              </a:rPr>
              <a:t>📽️ PUESTA EN COMÚN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0703" y="2249424"/>
            <a:ext cx="478231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BBF24"/>
                </a:solidFill>
                <a:latin typeface="Montserrat"/>
              </a:defRPr>
            </a:pPr>
            <a:r>
              <a:t>Muro y Debate del Aula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Proyección sincrónica en el proyector conducida por el facilitador.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EF3C7"/>
                </a:solidFill>
                <a:latin typeface="Inter"/>
              </a:rPr>
              <a:t>📽️ Muro de Mensajes en Vivo: </a:t>
            </a:r>
            <a:r>
              <a:rPr sz="1100">
                <a:solidFill>
                  <a:srgbClr val="94A3B8"/>
                </a:solidFill>
                <a:latin typeface="Inter"/>
              </a:rPr>
              <a:t>Visualización interactiva de todos los mensajes armados por el curso.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EF3C7"/>
                </a:solidFill>
                <a:latin typeface="Inter"/>
              </a:rPr>
              <a:t>📈 Estadísticas del Aula: </a:t>
            </a:r>
            <a:r>
              <a:rPr sz="1100">
                <a:solidFill>
                  <a:srgbClr val="94A3B8"/>
                </a:solidFill>
                <a:latin typeface="Inter"/>
              </a:rPr>
              <a:t>Descubrimos cuáles fueron los ganchos y anzuelos más elegidos.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EF3C7"/>
                </a:solidFill>
                <a:latin typeface="Inter"/>
              </a:rPr>
              <a:t>🧠 Debate Colectivo: </a:t>
            </a:r>
            <a:r>
              <a:rPr sz="1100">
                <a:solidFill>
                  <a:srgbClr val="94A3B8"/>
                </a:solidFill>
                <a:latin typeface="Inter"/>
              </a:rPr>
              <a:t>Analizamos en grupo por qué caemos y cómo detectar las trampas a tiempo.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EF3C7"/>
                </a:solidFill>
                <a:latin typeface="Inter"/>
              </a:rPr>
              <a:t>🏆 Podio &amp; Cierre Lúdico: </a:t>
            </a:r>
            <a:r>
              <a:rPr sz="1100">
                <a:solidFill>
                  <a:srgbClr val="94A3B8"/>
                </a:solidFill>
                <a:latin typeface="Inter"/>
              </a:rPr>
              <a:t>Reconocimiento a los mensajes más convincentes y mejor blindados.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0703" y="5669280"/>
            <a:ext cx="4782312" cy="512064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050" b="1">
                <a:solidFill>
                  <a:srgbClr val="FBBF24"/>
                </a:solidFill>
                <a:latin typeface="Inter"/>
              </a:rPr>
              <a:t>🎉 Reflexión Grupal: </a:t>
            </a:r>
            <a:r>
              <a:rPr sz="1000">
                <a:solidFill>
                  <a:srgbClr val="E2E8F0"/>
                </a:solidFill>
                <a:latin typeface="Inter"/>
              </a:rPr>
              <a:t>Puntos en común y aprendizajes compartidos.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5662" y="3914775"/>
            <a:ext cx="26765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3914775"/>
            <a:ext cx="25336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53100" y="1419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2095500" y="2295525"/>
            <a:ext cx="800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Seguridad es una Cultura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2286000" y="3000375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ciberseguridad no es un software que se instala; es un hábito diario que se practica en la escuela, el hogar y el trabajo.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2286000" y="4810125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 o comentarios para el debate?</a:t>
            </a:r>
            <a:endParaRPr/>
          </a:p>
        </p:txBody>
      </p:sp>
      <p:pic>
        <p:nvPicPr>
          <p:cNvPr descr="image.png" id="262" name="Google Shape;26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3787" y="4095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00812" y="409575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/>
          <p:nvPr/>
        </p:nvSpPr>
        <p:spPr>
          <a:xfrm>
            <a:off x="571500" y="22431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71500" y="30146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71500" y="37861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571500" y="3005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71500" y="3005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571500" y="37766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571500" y="37766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571500" y="45481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571500" y="45481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8" name="Google Shape;2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1666875" y="23931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https://as1.ftcdn.net/v2/jpg/19/98/31/38/1000_F_1998313896_DRqo6VxEWlWgO7lcTjazQz4uqKl1xnoQ.jpg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1666875" y="26265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www.posters.cz</a:t>
            </a:r>
            <a:endParaRPr/>
          </a:p>
        </p:txBody>
      </p:sp>
      <p:pic>
        <p:nvPicPr>
          <p:cNvPr descr="image.png" id="281" name="Google Shape;28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575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1666875" y="31646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https://lookaside.fbsbx.com/lookaside/crawler/media/?media_id=1124060459741287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1666875" y="33980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www.facebook.com</a:t>
            </a:r>
            <a:endParaRPr/>
          </a:p>
        </p:txBody>
      </p:sp>
      <p:pic>
        <p:nvPicPr>
          <p:cNvPr descr="image.png" id="284" name="Google Shape;28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290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1666875" y="39362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https://www.pandasecurity.com/en/mediacenter/src/uploads/2022/01/types-of-digital-assets-in-digital-footprint-scaled.webp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1666875" y="41695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www.pandasecurity.com</a:t>
            </a:r>
            <a:endParaRPr/>
          </a:p>
        </p:txBody>
      </p:sp>
      <p:pic>
        <p:nvPicPr>
          <p:cNvPr descr="image.png" id="287" name="Google Shape;28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00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1666875" y="47077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https://lookaside.fbsbx.com/lookaside/crawler/media/?media_id=1422098139934890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666875" y="49410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www.facebook.com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