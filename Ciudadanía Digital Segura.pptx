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35"/>
    <p:sldId id="268" r:id="rId36"/>
    <p:sldId id="265" r:id="rId15"/>
    <p:sldId id="266" r:id="rId16"/>
  </p:sldIdLst>
  <p:sldSz cy="6858000" cx="12192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font" Target="fonts/MontserratSemiBold-regular.fntdata"/><Relationship Id="rId18" Type="http://schemas.openxmlformats.org/officeDocument/2006/relationships/font" Target="fonts/MontserratSemiBold-bold.fntdata"/><Relationship Id="rId19" Type="http://schemas.openxmlformats.org/officeDocument/2006/relationships/font" Target="fonts/MontserratSemiBold-italic.fntdata"/><Relationship Id="rId20" Type="http://schemas.openxmlformats.org/officeDocument/2006/relationships/font" Target="fonts/MontserratSemiBold-boldItalic.fntdata"/><Relationship Id="rId21" Type="http://schemas.openxmlformats.org/officeDocument/2006/relationships/font" Target="fonts/InterSemiBold-regular.fntdata"/><Relationship Id="rId22" Type="http://schemas.openxmlformats.org/officeDocument/2006/relationships/font" Target="fonts/InterSemiBold-bold.fntdata"/><Relationship Id="rId23" Type="http://schemas.openxmlformats.org/officeDocument/2006/relationships/font" Target="fonts/InterSemiBold-italic.fntdata"/><Relationship Id="rId24" Type="http://schemas.openxmlformats.org/officeDocument/2006/relationships/font" Target="fonts/InterSemiBold-boldItalic.fntdata"/><Relationship Id="rId25" Type="http://schemas.openxmlformats.org/officeDocument/2006/relationships/font" Target="fonts/Inter-regular.fntdata"/><Relationship Id="rId26" Type="http://schemas.openxmlformats.org/officeDocument/2006/relationships/font" Target="fonts/Inter-bold.fntdata"/><Relationship Id="rId27" Type="http://schemas.openxmlformats.org/officeDocument/2006/relationships/font" Target="fonts/Inter-italic.fntdata"/><Relationship Id="rId28" Type="http://schemas.openxmlformats.org/officeDocument/2006/relationships/font" Target="fonts/Inter-boldItalic.fntdata"/><Relationship Id="rId29" Type="http://schemas.openxmlformats.org/officeDocument/2006/relationships/font" Target="fonts/Montserrat-regular.fntdata"/><Relationship Id="rId30" Type="http://schemas.openxmlformats.org/officeDocument/2006/relationships/font" Target="fonts/Montserrat-bold.fntdata"/><Relationship Id="rId31" Type="http://schemas.openxmlformats.org/officeDocument/2006/relationships/font" Target="fonts/Montserrat-italic.fntdata"/><Relationship Id="rId32" Type="http://schemas.openxmlformats.org/officeDocument/2006/relationships/font" Target="fonts/Montserrat-boldItalic.fntdata"/><Relationship Id="rId33" Type="http://schemas.openxmlformats.org/officeDocument/2006/relationships/font" Target="fonts/MontserratExtraBold-bold.fntdata"/><Relationship Id="rId34" Type="http://schemas.openxmlformats.org/officeDocument/2006/relationships/font" Target="fonts/MontserratExtraBold-boldItalic.fntdata"/><Relationship Id="rId35" Type="http://schemas.openxmlformats.org/officeDocument/2006/relationships/slide" Target="slides/slide10.xml"/><Relationship Id="rId3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39.png"/><Relationship Id="rId8" Type="http://schemas.openxmlformats.org/officeDocument/2006/relationships/image" Target="../media/image7.png"/><Relationship Id="rId9" Type="http://schemas.openxmlformats.org/officeDocument/2006/relationships/image" Target="../media/image19.png"/><Relationship Id="rId10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Relationship Id="rId9" Type="http://schemas.openxmlformats.org/officeDocument/2006/relationships/image" Target="../media/image14.png"/><Relationship Id="rId10" Type="http://schemas.openxmlformats.org/officeDocument/2006/relationships/image" Target="../media/image30.png"/><Relationship Id="rId11" Type="http://schemas.openxmlformats.org/officeDocument/2006/relationships/image" Target="../media/image17.png"/><Relationship Id="rId1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47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53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Relationship Id="rId9" Type="http://schemas.openxmlformats.org/officeDocument/2006/relationships/image" Target="../media/image14.png"/><Relationship Id="rId10" Type="http://schemas.openxmlformats.org/officeDocument/2006/relationships/image" Target="../media/image32.png"/><Relationship Id="rId11" Type="http://schemas.openxmlformats.org/officeDocument/2006/relationships/image" Target="../media/image5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192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639466"/>
            <a:ext cx="560070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Ciudadanía Digital Segura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12852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Protección esencial para la escuela, el hogar y el entorno laboral.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84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76300" y="2291804"/>
            <a:ext cx="2609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CIBERSEGURIDAD Y PRIVACIDAD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628775"/>
            <a:ext cx="5314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8350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181475"/>
            <a:ext cx="47053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4181475"/>
            <a:ext cx="47053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352675"/>
            <a:ext cx="470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85825" y="2781300"/>
            <a:ext cx="49406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La información es el activo clave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3133725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ciberdelincuentes buscan identidades comunes para cometer fraudes, suplantar identidades o vender bases de datos privadas.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0825" y="2352675"/>
            <a:ext cx="470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600825" y="2781300"/>
            <a:ext cx="49406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Las llaves de tu casa digital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00825" y="3133725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Tus datos personales son el acceso directo a tu vida crediticia, familiar y profesional. Trátalos con la misma precaución con la que proteges la puerta de tu hogar.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419350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52525" y="4352925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Ejemplo habitual: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Compartir ubicación en tiempo real, publicar fotos de alumnos o subir archivos de clientes a nubes públicas sin contraseña.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2419350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867525" y="4352925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Regla de oro: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Si no le entregarías una copia de la llave de tu casa a un desconocido, no compartas tus datos personales en plataformas no verificadas.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¿Por qué tus datos importan?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20383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 eslabón más débil no es la computadora, es el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 humano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7622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atacantes apelan a la urgencia, el miedo o la curiosidad para manipular a las víctimas antes de que piensen.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14400" y="34671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Engaño Típico: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Correos de suspensión de cuenta en 24h o facturas adjuntas falsas (.exe).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41529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Regla de los 3 Segundos: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Detente, piensa y verifica la fuente antes de reaccionar.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48387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Verificación de Remitente: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Revisa la dirección real del correo y no solo el nombre visible.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0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6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25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Ingeniería Social y Phishing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47725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718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Claves Vulnerables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7725" y="3533775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contraseñas cortas o comunes (ej.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Marzo2026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123456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se descifran en milisegundos mediante ataques automatizados.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7725" y="4657725"/>
            <a:ext cx="29781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reutilizas la misma clave, una brecha en un sitio comprometerá tu correo y banca.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606974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Frases de Contraseña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06974" y="3533775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Combina 4 palabras aleatorias con símbolos (ej.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Elefante-Mate-Ventana-Azul-26!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06974" y="4400550"/>
            <a:ext cx="29781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Sencilla de recordar para ti, matemáticamente imposible de adivinar para un robot.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366224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Gestores de Claves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366224" y="3533775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 herramientas como Bitwarden o 1Password para generar y almacenar claves únicas.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66224" y="4400550"/>
            <a:ext cx="29781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Elimina la necesidad de memorizar decenas de contraseñas complejas.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62" y="26384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0324" y="26384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85286" y="26384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Contraseñas Robustas vs. Débiles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57437"/>
            <a:ext cx="53340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2057400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Las contraseñas ya no son suficientes. Necesitas una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segunda capa de defensa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0" y="2747962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563201" y="3548062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Protección en 2 Pasos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77025" y="3938587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Paso 1: Tu Contraseña Secreta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77025" y="4586287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2: Código Temporal de App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7775" y="4281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14400" y="2876550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Barrera Antirrobo: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un atacante adivina tu clave desde otro país, el sistema requerirá un código dinámico que solo llega a tu celular.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14400" y="383857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Activación Esencial: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Habilítalo en WhatsApp, correo corporativo, escolar y redes sociales sin excepción.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4400" y="4543425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Prefiere Apps Autenticadoras: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 Google o Microsoft Authenticator en lugar de SMS, ya que los SMS pueden interceptarse.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003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62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672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Doble Factor de Autenticación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5334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21526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Cualquier publicación construye tu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huella digital permanente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puede ser explotada en tu contra.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38200" y="29908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Evita el Oversharing: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No publiques pases de abordar (códigos QR), prendas con logos de colegio/trabajo ni responder trivias virales que revelen tus preguntas de seguridad.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14400" y="40386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Configuración de Perfil: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Mantén tus cuentas siempre configuradas como "Privadas".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14400" y="47244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Filtro de la Abuela: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no mostrarías esa foto o comentario en persona a tu abuela o jefe, no lo subas a la red.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62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482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Privacidad y Redes Sociales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5334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200977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Las redes Wi-Fi abiertas de aeropuertos, plazas o cafeterías </a:t>
            </a:r>
            <a:r>
              <a:rPr b="0" i="0" lang="en-US" sz="142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carecen de cifrado seguro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38200" y="28765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Riesgo de interceptación: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Un atacante conectado a la misma red pública puede clonar la señal o interceptar tus credenciales y correos confidenciales.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14400" y="39243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Prioriza tus Datos Móviles: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 la red de tu operador telefónico para transacciones bancarias o laborales.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14400" y="4610100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 siempre una VPN: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es indispensable usar Wi-Fi pública, activa una Red Privada Virtual para cifrar el tráfico de extremo a extremo.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481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339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Conectividad en Zonas Públicas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47725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Auditoría Inicial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47725" y="352425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Revisa minuciosamente los permisos que solicitan las aplicaciones inmediatamente después de instalarlas.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47725" y="4667250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Cuestiona por qué una app de linterna requiere acceso a tus contactos o micrófono.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606974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Menor Privilegio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606974" y="352425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Deniega el acceso a cámara, micrófono, galería y ubicación si no corresponden con la función real de la app.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06974" y="4667250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Limita la recolección innecesaria de telemetría y datos personales.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8366224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Depuración Periódica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366224" y="3524250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Elimina del dispositivo las aplicaciones que no hayas utilizado en el último mes.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66224" y="4410075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Reducirás la superficie de ataque y prevendrás posibles fugas de datos en segundo plano.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28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13861" y="26289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Permisos Abusivos en Apps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35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265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865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580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71500" y="24145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riesgo cero no existe. La diferencia radica en la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velocidad de contención y respuesta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1676400" y="4038600"/>
            <a:ext cx="8839200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73866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Notificación Inmediata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09625" y="4052887"/>
            <a:ext cx="28384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clonan tu WhatsApp o cuenta, alerta a tus contactos vía telefónica inmediata para evitar estafas masivas a tu nombre.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60581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Aislamiento del Equipo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676775" y="4052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Ante comportamientos anómalos o clics sospechosos, desconecta el dispositivo de la red Wi-Fi o cable Ethernet para frenar el Ransomware.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47296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Reporte Oficial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543925" y="4052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Informa inmediatamente al área de sistemas corporativa/escolar y realiza la denuncia ante las autoridades de delitos cibernéticos.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Respuesta ante Incidentes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8912"/>
            <a:ext cx="110459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Montserrat"/>
              </a:defRPr>
            </a:pPr>
            <a:r>
              <a:t>Desafío Práctico: CSI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4128"/>
            <a:ext cx="110459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Inter"/>
              </a:rPr>
              <a:t>Pondremos a prueba lo aprendido en una simulación interactiva en tiempo real: </a:t>
            </a:r>
            <a:r>
              <a:rPr sz="1300" b="1">
                <a:solidFill>
                  <a:srgbClr val="38BDF8"/>
                </a:solidFill>
                <a:latin typeface="Inter"/>
              </a:rPr>
              <a:t>Ataque vs. Defensa Digital</a:t>
            </a:r>
            <a:r>
              <a:rPr sz="130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54480"/>
            <a:ext cx="5376672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2926080" cy="329184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ECACA"/>
                </a:solidFill>
                <a:latin typeface="Montserrat"/>
              </a:rPr>
              <a:t>🔴 RED TEAM  |  ATACANTES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9424"/>
            <a:ext cx="47823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87171"/>
                </a:solidFill>
                <a:latin typeface="Montserrat"/>
              </a:defRPr>
            </a:pPr>
            <a:r>
              <a:t>Misión de Ingeniería Social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Objetivo: Ponerse en los zapatos del ciberdelincuente para comprender los mecanismos del engaño.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E2E2"/>
                </a:solidFill>
                <a:latin typeface="Inter"/>
              </a:rPr>
              <a:t>🎯 Analizar el Escenario: </a:t>
            </a:r>
            <a:r>
              <a:rPr sz="1100">
                <a:solidFill>
                  <a:srgbClr val="94A3B8"/>
                </a:solidFill>
                <a:latin typeface="Inter"/>
              </a:rPr>
              <a:t>Estudiar a la víctima potencial e identificar vulnerabilidades humanas y descuidos.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E2E2"/>
                </a:solidFill>
                <a:latin typeface="Inter"/>
              </a:rPr>
              <a:t>⚡ Diseñar el Pretexto: </a:t>
            </a:r>
            <a:r>
              <a:rPr sz="1100">
                <a:solidFill>
                  <a:srgbClr val="94A3B8"/>
                </a:solidFill>
                <a:latin typeface="Inter"/>
              </a:rPr>
              <a:t>Construir la narrativa de persuasión apelando a la urgencia (24h), el miedo o la curiosidad.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E2E2"/>
                </a:solidFill>
                <a:latin typeface="Inter"/>
              </a:rPr>
              <a:t>🪤 Trampa Técnica: </a:t>
            </a:r>
            <a:r>
              <a:rPr sz="1100">
                <a:solidFill>
                  <a:srgbClr val="94A3B8"/>
                </a:solidFill>
                <a:latin typeface="Inter"/>
              </a:rPr>
              <a:t>Definir el anzuelo exacto: remitente falseado, enlace fraudulento (.xyz) o adjunto malicioso.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669280"/>
            <a:ext cx="4782312" cy="512064"/>
          </a:xfrm>
          <a:prstGeom prst="roundRect">
            <a:avLst/>
          </a:prstGeom>
          <a:solidFill>
            <a:srgbClr val="18121E"/>
          </a:solidFill>
          <a:ln w="127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50" b="1">
                <a:solidFill>
                  <a:srgbClr val="F87171"/>
                </a:solidFill>
                <a:latin typeface="Inter"/>
              </a:rPr>
              <a:t>📱 En tu Celular: </a:t>
            </a:r>
            <a:r>
              <a:rPr sz="1000">
                <a:solidFill>
                  <a:srgbClr val="E2E8F0"/>
                </a:solidFill>
                <a:latin typeface="Inter"/>
              </a:rPr>
              <a:t>Redactar la estrategia del engaño y las trampas.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3523" y="1554480"/>
            <a:ext cx="5376672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40703" y="1810512"/>
            <a:ext cx="2926080" cy="329184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BAE6FD"/>
                </a:solidFill>
                <a:latin typeface="Montserrat"/>
              </a:rPr>
              <a:t>🔵 BLUE TEAM  |  DEFENSORES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703" y="2249424"/>
            <a:ext cx="47823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38BDF8"/>
                </a:solidFill>
                <a:latin typeface="Montserrat"/>
              </a:defRPr>
            </a:pPr>
            <a:r>
              <a:t>Misión de Análisis Forense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Objetivo: Inspeccionar como analistas de ciberseguridad (SOC) para neutralizar la amenaza.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🔍 Inspección Técnica: </a:t>
            </a:r>
            <a:r>
              <a:rPr sz="1100">
                <a:solidFill>
                  <a:srgbClr val="94A3B8"/>
                </a:solidFill>
                <a:latin typeface="Inter"/>
              </a:rPr>
              <a:t>Auditar remitentes reales, dominios sospechosos, enlaces engañosos y archivos.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🛡️ Detectar 5 Anomalías: </a:t>
            </a:r>
            <a:r>
              <a:rPr sz="1100">
                <a:solidFill>
                  <a:srgbClr val="94A3B8"/>
                </a:solidFill>
                <a:latin typeface="Inter"/>
              </a:rPr>
              <a:t>Marcar en el checklist interactivo las 5 señales forenses ocultas en el caso.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📋 Protocolo de Defensa: </a:t>
            </a:r>
            <a:r>
              <a:rPr sz="1100">
                <a:solidFill>
                  <a:srgbClr val="94A3B8"/>
                </a:solidFill>
                <a:latin typeface="Inter"/>
              </a:rPr>
              <a:t>Redactar 3 recomendaciones prácticas y prioritarias para alertar a la comunidad.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0703" y="5669280"/>
            <a:ext cx="4782312" cy="512064"/>
          </a:xfrm>
          <a:prstGeom prst="roundRect">
            <a:avLst/>
          </a:prstGeom>
          <a:solidFill>
            <a:srgbClr val="0C1A2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50" b="1">
                <a:solidFill>
                  <a:srgbClr val="38BDF8"/>
                </a:solidFill>
                <a:latin typeface="Inter"/>
              </a:rPr>
              <a:t>📱 En tu Celular: </a:t>
            </a:r>
            <a:r>
              <a:rPr sz="1000">
                <a:solidFill>
                  <a:srgbClr val="E2E8F0"/>
                </a:solidFill>
                <a:latin typeface="Inter"/>
              </a:rPr>
              <a:t>Marcar 5 anomalías en el checklist + 3 defensas.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8912"/>
            <a:ext cx="110459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Montserrat"/>
              </a:defRPr>
            </a:pPr>
            <a:r>
              <a:t>¿Cómo Participamos? — Dinámica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4128"/>
            <a:ext cx="110459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Inter"/>
              </a:rPr>
              <a:t>Plataforma 100% web desde tu celular, sin descargas ni registros. </a:t>
            </a:r>
            <a:r>
              <a:rPr sz="1300" b="1">
                <a:solidFill>
                  <a:srgbClr val="38BDF8"/>
                </a:solidFill>
                <a:latin typeface="Inter"/>
              </a:rPr>
              <a:t>¡Misión contrarreloj por equipos!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54480"/>
            <a:ext cx="3493008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1810512"/>
            <a:ext cx="109728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BAE6FD"/>
                </a:solidFill>
                <a:latin typeface="Montserrat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249424"/>
            <a:ext cx="303580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38BDF8"/>
                </a:solidFill>
                <a:latin typeface="Montserrat"/>
              </a:defRPr>
            </a:pPr>
            <a:r>
              <a:t>1. Ingreso al Juego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Conexión instantánea en segundos desde cualquier celular.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📷 Escaneo de QR: </a:t>
            </a:r>
            <a:r>
              <a:rPr sz="1050">
                <a:solidFill>
                  <a:srgbClr val="94A3B8"/>
                </a:solidFill>
                <a:latin typeface="Inter"/>
              </a:rPr>
              <a:t>Apunta la cámara de tu celular al código QR gigante en la proyección.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🔑 Código PIN: </a:t>
            </a:r>
            <a:r>
              <a:rPr sz="1050">
                <a:solidFill>
                  <a:srgbClr val="94A3B8"/>
                </a:solidFill>
                <a:latin typeface="Inter"/>
              </a:rPr>
              <a:t>O ingresa a la web del juego e introduce el código de sesión de 4 dígitos.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👥 Elige tu Equipo: </a:t>
            </a:r>
            <a:r>
              <a:rPr sz="1050">
                <a:solidFill>
                  <a:srgbClr val="94A3B8"/>
                </a:solidFill>
                <a:latin typeface="Inter"/>
              </a:rPr>
              <a:t>Selecciona tu grupo y descubre tu rol asignado (Red o Blue Team).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5669280"/>
            <a:ext cx="3035808" cy="512064"/>
          </a:xfrm>
          <a:prstGeom prst="roundRect">
            <a:avLst/>
          </a:prstGeom>
          <a:solidFill>
            <a:srgbClr val="0C1A2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00" b="1">
                <a:solidFill>
                  <a:srgbClr val="BAE6FD"/>
                </a:solidFill>
                <a:latin typeface="Inter"/>
              </a:rPr>
              <a:t>⚡ 100% web, sin instalar 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8886" y="1554480"/>
            <a:ext cx="3493008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7486" y="1810512"/>
            <a:ext cx="1097280" cy="320040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DE68A"/>
                </a:solidFill>
                <a:latin typeface="Montserrat"/>
              </a:rPr>
              <a:t>PASO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7486" y="2249424"/>
            <a:ext cx="303580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BBF24"/>
                </a:solidFill>
                <a:latin typeface="Montserrat"/>
              </a:defRPr>
            </a:pPr>
            <a:r>
              <a:t>2. Misión en Vivo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Análisis en equipo sincronizado con el cronómetro del aula.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⏳ Tiempo Compartido: </a:t>
            </a:r>
            <a:r>
              <a:rPr sz="1050">
                <a:solidFill>
                  <a:srgbClr val="94A3B8"/>
                </a:solidFill>
                <a:latin typeface="Inter"/>
              </a:rPr>
              <a:t>El reloj corre sincronizado en la pantalla gigante y en los teléfonos.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💬 Debate en Grupo: </a:t>
            </a:r>
            <a:r>
              <a:rPr sz="1050">
                <a:solidFill>
                  <a:srgbClr val="94A3B8"/>
                </a:solidFill>
                <a:latin typeface="Inter"/>
              </a:rPr>
              <a:t>Analicen el caso asignado (correo bancario o chat de WhatsApp sospechoso).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🚀 Envío de Misión: </a:t>
            </a:r>
            <a:r>
              <a:rPr sz="1050">
                <a:solidFill>
                  <a:srgbClr val="94A3B8"/>
                </a:solidFill>
                <a:latin typeface="Inter"/>
              </a:rPr>
              <a:t>Completen el formulario y envíen antes del aviso final de 2 minutos.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7486" y="5669280"/>
            <a:ext cx="3035808" cy="512064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00" b="1">
                <a:solidFill>
                  <a:srgbClr val="FDE68A"/>
                </a:solidFill>
                <a:latin typeface="Inter"/>
              </a:rPr>
              <a:t>💾 Guardado automático de respuestas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187" y="1554480"/>
            <a:ext cx="3493008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55787" y="1810512"/>
            <a:ext cx="10972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A7F3D0"/>
                </a:solidFill>
                <a:latin typeface="Montserrat"/>
              </a:rP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5787" y="2249424"/>
            <a:ext cx="303580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34D399"/>
                </a:solidFill>
                <a:latin typeface="Montserrat"/>
              </a:defRPr>
            </a:pPr>
            <a:r>
              <a:t>3. Revelación y Podio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Puesta en común, análisis forense y ranking lúdico final.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📽️ Puesta en Común: </a:t>
            </a:r>
            <a:r>
              <a:rPr sz="1050">
                <a:solidFill>
                  <a:srgbClr val="94A3B8"/>
                </a:solidFill>
                <a:latin typeface="Inter"/>
              </a:rPr>
              <a:t>Proyección en grande de las respuestas enviadas por cada equipo.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🎯 Revelación Forense: </a:t>
            </a:r>
            <a:r>
              <a:rPr sz="1050">
                <a:solidFill>
                  <a:srgbClr val="94A3B8"/>
                </a:solidFill>
                <a:latin typeface="Inter"/>
              </a:rPr>
              <a:t>Descubrimos juntos las 5 anomalías reales con alertas animadas.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🏆 Podio y Puntos: </a:t>
            </a:r>
            <a:r>
              <a:rPr sz="1050">
                <a:solidFill>
                  <a:srgbClr val="94A3B8"/>
                </a:solidFill>
                <a:latin typeface="Inter"/>
              </a:rPr>
              <a:t>Tabla de posiciones con puntos por aciertos y bonus de velocidad.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5787" y="5669280"/>
            <a:ext cx="3035808" cy="512064"/>
          </a:xfrm>
          <a:prstGeom prst="roundRect">
            <a:avLst/>
          </a:prstGeom>
          <a:solidFill>
            <a:srgbClr val="0A2018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00" b="1">
                <a:solidFill>
                  <a:srgbClr val="A7F3D0"/>
                </a:solidFill>
                <a:latin typeface="Inter"/>
              </a:rPr>
              <a:t>🎉 ¡Cálculo de puntos y confeti digital!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5662" y="3914775"/>
            <a:ext cx="26765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3914775"/>
            <a:ext cx="25336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3100" y="1419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2095500" y="2295525"/>
            <a:ext cx="800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Seguridad es una Cultura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2286000" y="30003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ciberseguridad no es un software que se instala; es un hábito diario que se practica en la escuela, el hogar y el trabajo.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2286000" y="4810125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 o comentarios para el debate?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3787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2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/>
          <p:nvPr/>
        </p:nvSpPr>
        <p:spPr>
          <a:xfrm>
            <a:off x="571500" y="22431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30146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37861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1500" y="3776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71500" y="3776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4548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1500" y="4548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1666875" y="23931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https://as1.ftcdn.net/v2/jpg/19/98/31/38/1000_F_1998313896_DRqo6VxEWlWgO7lcTjazQz4uqKl1xnoQ.jpg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666875" y="26265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www.posters.cz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57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666875" y="31646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https://lookaside.fbsbx.com/lookaside/crawler/media/?media_id=1124060459741287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666875" y="33980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www.facebook.com</a:t>
            </a:r>
            <a:endParaRPr/>
          </a:p>
        </p:txBody>
      </p:sp>
      <p:pic>
        <p:nvPicPr>
          <p:cNvPr descr="image.png" id="284" name="Google Shape;28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9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1666875" y="39362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https://www.pandasecurity.com/en/mediacenter/src/uploads/2022/01/types-of-digital-assets-in-digital-footprint-scaled.webp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666875" y="41695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www.pandasecurity.com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00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1666875" y="4707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https://lookaside.fbsbx.com/lookaside/crawler/media/?media_id=1422098139934890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666875" y="4941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www.facebook.com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